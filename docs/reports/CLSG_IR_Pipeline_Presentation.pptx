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D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pPr algn="l">
              <a:spcAft>
                <a:spcPts val="400"/>
              </a:spcAft>
              <a:defRPr sz="5400" b="1">
                <a:solidFill>
                  <a:srgbClr val="E6D9A8"/>
                </a:solidFill>
                <a:latin typeface="Segoe UI"/>
              </a:defRPr>
            </a:pPr>
            <a:r>
              <a:t>CLSG-IR</a:t>
            </a:r>
          </a:p>
          <a:p>
            <a:pPr algn="l">
              <a:spcAft>
                <a:spcPts val="4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Configurable Lecture Script &amp;</a:t>
            </a:r>
            <a:br/>
            <a:r>
              <a:t>Visual Intent Generation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2200" b="0">
                <a:solidFill>
                  <a:srgbClr val="E3EBF5"/>
                </a:solidFill>
                <a:latin typeface="Segoe UI"/>
              </a:defRPr>
            </a:pPr>
            <a:r>
              <a:t>Khung Biểu Diễn Trung Gian (Intermediate Representation)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E3EBF5"/>
                </a:solidFill>
                <a:latin typeface="Segoe UI"/>
              </a:defRPr>
            </a:pPr>
            <a:r>
              <a:t>Cầu Nối Giữa Tài Liệu Học Tập và Hệ Thống AI Video Generation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E6D9A8"/>
                </a:solidFill>
                <a:latin typeface="Segoe UI"/>
              </a:defRPr>
            </a:pPr>
            <a:r>
              <a:t>Vai trò: Instructional Designer &amp; Educational Content Architect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E6D9A8"/>
                </a:solidFill>
                <a:latin typeface="Segoe UI"/>
              </a:defRPr>
            </a:pPr>
            <a:r>
              <a:t>Đối sánh: EduCraft (CIKM 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3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6446520"/>
            <a:ext cx="10058400" cy="36576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300" b="0">
                <a:solidFill>
                  <a:srgbClr val="E6D9A8"/>
                </a:solidFill>
                <a:latin typeface="Segoe UI"/>
              </a:defRPr>
            </a:pPr>
            <a:r>
              <a:t>BÁO CÁO PHƯƠNG PHÁP &amp; KIẾN TRÚC HỆ THỐNG  •  20K MiniHackathon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4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PAIN POINT — BÀI TOÁN THỰC TẾ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394960" cy="1097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914400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44168"/>
            <a:ext cx="914400" cy="36576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AI?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25880"/>
            <a:ext cx="3931920" cy="4114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600" b="1">
                <a:solidFill>
                  <a:srgbClr val="1E3A8A"/>
                </a:solidFill>
                <a:latin typeface="Segoe UI"/>
              </a:defRPr>
            </a:pPr>
            <a:r>
              <a:t>Giảng viên, giáo viên &amp; Instructional Designers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737360"/>
            <a:ext cx="393192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300" b="0">
                <a:solidFill>
                  <a:srgbClr val="4B5577"/>
                </a:solidFill>
                <a:latin typeface="Segoe UI"/>
              </a:defRPr>
            </a:pPr>
            <a:r>
              <a:t>Chuyên viên phát triển nội dung đào tạo tại các trường học và tổ chức EdTech.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94960" cy="10972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1463040" cy="4114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44168"/>
            <a:ext cx="1463040" cy="36576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ĐANG LÀM?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325880"/>
            <a:ext cx="3383280" cy="8686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400" b="0">
                <a:solidFill>
                  <a:srgbClr val="4B5577"/>
                </a:solidFill>
                <a:latin typeface="Segoe UI"/>
              </a:defRPr>
            </a:pPr>
            <a:r>
              <a:t>Chuyển đổi tài liệu học thuật, giáo trình và slide tĩnh (PDF, PPTX) thành video bài giảng trực quan, sinh động.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06040"/>
            <a:ext cx="11109960" cy="137160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697480"/>
            <a:ext cx="1463040" cy="411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15768"/>
            <a:ext cx="1463040" cy="36576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VƯỚNG ĐÂU?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697480"/>
            <a:ext cx="9052560" cy="118872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0">
                <a:solidFill>
                  <a:srgbClr val="1B2559"/>
                </a:solidFill>
                <a:latin typeface="Segoe UI"/>
              </a:defRPr>
            </a:pPr>
            <a:r>
              <a:t>Quy trình sản xuất thủ công đòi hỏi quá nhiều khâu phân mảnh:</a:t>
            </a:r>
            <a:br/>
            <a:r>
              <a:t>① Viết lại kịch bản sư phạm  →  ② Vẽ/thiết kế đồ họa trực quan  →  ③ Thu âm &amp; căn chỉnh nhịp độ timeline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11109960" cy="24688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BE1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97680"/>
            <a:ext cx="1463040" cy="411480"/>
          </a:xfrm>
          <a:prstGeom prst="rect">
            <a:avLst/>
          </a:prstGeom>
          <a:solidFill>
            <a:srgbClr val="BE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315968"/>
            <a:ext cx="1463040" cy="36576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HẬU QUẢ?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251960"/>
            <a:ext cx="9052560" cy="233172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pPr algn="l">
              <a:spcAft>
                <a:spcPts val="400"/>
              </a:spcAft>
              <a:defRPr sz="1700" b="1">
                <a:solidFill>
                  <a:srgbClr val="BE1E2D"/>
                </a:solidFill>
                <a:latin typeface="Segoe UI"/>
              </a:defRPr>
            </a:pPr>
            <a:r>
              <a:t>⏰  Mất 15–20 giờ lao động chỉ cho 10 phút video thành phẩm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77"/>
                </a:solidFill>
                <a:latin typeface="Segoe UI"/>
              </a:defRPr>
            </a:pPr>
            <a:r>
              <a:t>Nguồn: NIU Center for Innovative Teaching and Learning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B5577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700" b="1">
                <a:solidFill>
                  <a:srgbClr val="BE1E2D"/>
                </a:solidFill>
                <a:latin typeface="Segoe UI"/>
              </a:defRPr>
            </a:pPr>
            <a:r>
              <a:t>💰  Chi phí: $100–$300 / bài giảng cơ bản (hàng nghìn USD nếu thuê agency)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4B5577"/>
                </a:solidFill>
                <a:latin typeface="Segoe UI"/>
              </a:defRPr>
            </a:pPr>
            <a:r>
              <a:t>Nguồn: Vidico — Educational Video Production Cost Report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4B5577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1B2559"/>
                </a:solidFill>
                <a:latin typeface="Segoe UI"/>
              </a:defRPr>
            </a:pPr>
            <a:r>
              <a:t>🚧  Trở thành điểm nghẽn nghiêm trọng khiến các trường học và tổ chức EdTech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1B2559"/>
                </a:solidFill>
                <a:latin typeface="Segoe UI"/>
              </a:defRPr>
            </a:pPr>
            <a:r>
              <a:t>     không thể số hóa kho học liệu ở quy mô lớn.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4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1.  VẤN ĐỀ &amp; ĐỘNG LỰC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2000" b="0">
                <a:solidFill>
                  <a:srgbClr val="4B5577"/>
                </a:solidFill>
                <a:latin typeface="Segoe UI"/>
              </a:defRPr>
            </a:pPr>
            <a:r>
              <a:t>Các mô hình AI sinh video gặp 3 vấn đề chí mạng khi áp dụng vào giáo dục: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0515600" cy="12801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BE1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4114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900" b="1">
                <a:solidFill>
                  <a:srgbClr val="BE1E2D"/>
                </a:solidFill>
                <a:latin typeface="Segoe UI"/>
              </a:defRPr>
            </a:pPr>
            <a:r>
              <a:t>❌  Lệch Nhịp Độ (Pacing Failure)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058400" cy="6858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0">
                <a:solidFill>
                  <a:srgbClr val="4B5577"/>
                </a:solidFill>
                <a:latin typeface="Segoe UI"/>
              </a:defRPr>
            </a:pPr>
            <a:r>
              <a:t>Kịch bản nói có độ dài chênh lệch tùy tiện so với thời lượng video mong muốn. EduCraft trói cứng 1 slide = 1 đoạn script rời rạc, không thể co giãn theo thời lượng mục tiêu.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515600" cy="12801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BE1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49040"/>
            <a:ext cx="10058400" cy="4114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900" b="1">
                <a:solidFill>
                  <a:srgbClr val="BE1E2D"/>
                </a:solidFill>
                <a:latin typeface="Segoe UI"/>
              </a:defRPr>
            </a:pPr>
            <a:r>
              <a:t>❌  Ảo Giác Thị Giác (Visual Hallucination)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0058400" cy="6858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0">
                <a:solidFill>
                  <a:srgbClr val="4B5577"/>
                </a:solidFill>
                <a:latin typeface="Segoe UI"/>
              </a:defRPr>
            </a:pPr>
            <a:r>
              <a:t>AI sinh hoạt ảnh trang trí vô bổ thay vì sơ đồ trực quan có giá trị sư phạm. Không có metadata chỉ dẫn visual intent cho downstream video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515600" cy="12801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BE1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10058400" cy="4114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900" b="1">
                <a:solidFill>
                  <a:srgbClr val="BE1E2D"/>
                </a:solidFill>
                <a:latin typeface="Segoe UI"/>
              </a:defRPr>
            </a:pPr>
            <a:r>
              <a:t>❌  Giọng Đọc Đơn Điệu (Monotone Audio)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10058400" cy="6858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0">
                <a:solidFill>
                  <a:srgbClr val="4B5577"/>
                </a:solidFill>
                <a:latin typeface="Segoe UI"/>
              </a:defRPr>
            </a:pPr>
            <a:r>
              <a:t>TTS phát âm đều đều, thiếu khoảng dừng nhận thức (Cognitive Pauses), gây quá tải nhận thức (Cognitive Overload) cho người học.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4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2.  GIẢI PHÁP: INTERMEDIATE REPRESENTATION (IR)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515600" cy="10972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134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058400" cy="91440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pPr algn="ctr">
              <a:spcAft>
                <a:spcPts val="400"/>
              </a:spcAft>
              <a:defRPr sz="2400" b="1">
                <a:solidFill>
                  <a:srgbClr val="134B88"/>
                </a:solidFill>
                <a:latin typeface="Segoe UI"/>
              </a:defRPr>
            </a:pPr>
            <a:r>
              <a:t>CLSG-IR = ⟨ WHY, WHAT, HOW, WHAT TO SHOW ⟩</a:t>
            </a:r>
          </a:p>
          <a:p>
            <a:pPr algn="ctr">
              <a:spcAft>
                <a:spcPts val="400"/>
              </a:spcAft>
              <a:defRPr sz="1500" b="0">
                <a:solidFill>
                  <a:srgbClr val="4B5577"/>
                </a:solidFill>
                <a:latin typeface="Segoe UI"/>
              </a:defRPr>
            </a:pPr>
            <a:r>
              <a:t>Document + Θ_user  →  [Instructional Architect]  →  Narration + Prosody + Visual Intent  →  AI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058400" cy="4114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2000" b="1">
                <a:solidFill>
                  <a:srgbClr val="1B2559"/>
                </a:solidFill>
                <a:latin typeface="Segoe UI"/>
              </a:defRPr>
            </a:pPr>
            <a:r>
              <a:t>5 Nguyên tắc Sư phạm Bắt buộc: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515600" cy="56692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90672"/>
            <a:ext cx="164592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1">
                <a:solidFill>
                  <a:srgbClr val="059669"/>
                </a:solidFill>
                <a:latin typeface="Segoe UI"/>
              </a:defRPr>
            </a:pPr>
            <a:r>
              <a:t>Nguyên tắc 1: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090672"/>
            <a:ext cx="850392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0">
                <a:solidFill>
                  <a:srgbClr val="1B2559"/>
                </a:solidFill>
                <a:latin typeface="Segoe UI"/>
              </a:defRPr>
            </a:pPr>
            <a:r>
              <a:t>Nội dung và mục tiêu học tập (Learning Goals) là ưu tiên cao nhất.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75888"/>
            <a:ext cx="105156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40"/>
            <a:ext cx="164592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1">
                <a:solidFill>
                  <a:srgbClr val="059669"/>
                </a:solidFill>
                <a:latin typeface="Segoe UI"/>
              </a:defRPr>
            </a:pPr>
            <a:r>
              <a:t>Nguyên tắc 2: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749040"/>
            <a:ext cx="850392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0">
                <a:solidFill>
                  <a:srgbClr val="1B2559"/>
                </a:solidFill>
                <a:latin typeface="Segoe UI"/>
              </a:defRPr>
            </a:pPr>
            <a:r>
              <a:t>Chỉ đề xuất hình ảnh khi nó thực sự giúp người học hiểu bài tốt hơn.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34256"/>
            <a:ext cx="10515600" cy="56692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07408"/>
            <a:ext cx="164592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1">
                <a:solidFill>
                  <a:srgbClr val="059669"/>
                </a:solidFill>
                <a:latin typeface="Segoe UI"/>
              </a:defRPr>
            </a:pPr>
            <a:r>
              <a:t>Nguyên tắc 3: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407408"/>
            <a:ext cx="850392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0">
                <a:solidFill>
                  <a:srgbClr val="1B2559"/>
                </a:solidFill>
                <a:latin typeface="Segoe UI"/>
              </a:defRPr>
            </a:pPr>
            <a:r>
              <a:t>Tuyệt đối KHÔNG tạo hình ảnh chỉ nhằm mục đích trang trí hình thức.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92624"/>
            <a:ext cx="105156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65776"/>
            <a:ext cx="164592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1">
                <a:solidFill>
                  <a:srgbClr val="059669"/>
                </a:solidFill>
                <a:latin typeface="Segoe UI"/>
              </a:defRPr>
            </a:pPr>
            <a:r>
              <a:t>Nguyên tắc 4: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065776"/>
            <a:ext cx="850392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0">
                <a:solidFill>
                  <a:srgbClr val="1B2559"/>
                </a:solidFill>
                <a:latin typeface="Segoe UI"/>
              </a:defRPr>
            </a:pPr>
            <a:r>
              <a:t>Mỗi visual cue phải trả lời: Học viên cần hiểu gì? Điểm nào khó hình dung?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50992"/>
            <a:ext cx="10515600" cy="56692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724144"/>
            <a:ext cx="164592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1">
                <a:solidFill>
                  <a:srgbClr val="059669"/>
                </a:solidFill>
                <a:latin typeface="Segoe UI"/>
              </a:defRPr>
            </a:pPr>
            <a:r>
              <a:t>Nguyên tắc 5: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5724144"/>
            <a:ext cx="850392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0">
                <a:solidFill>
                  <a:srgbClr val="1B2559"/>
                </a:solidFill>
                <a:latin typeface="Segoe UI"/>
              </a:defRPr>
            </a:pPr>
            <a:r>
              <a:t>Phân định ranh giới: KHÔNG sinh camera, góc quay, hiệu ứng chuyển cảnh.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4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3.  KIẾN TRÚC PIPELINE HOÀN CHỈNH</a:t>
            </a:r>
          </a:p>
        </p:txBody>
      </p:sp>
      <p:pic>
        <p:nvPicPr>
          <p:cNvPr id="4" name="Picture 3" descr="clsg_pipeline_m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62774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51560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ctr">
              <a:defRPr sz="1300" b="1">
                <a:solidFill>
                  <a:srgbClr val="4B5577"/>
                </a:solidFill>
                <a:latin typeface="Segoe UI"/>
              </a:defRPr>
            </a:pPr>
            <a:r>
              <a:t>Hình 1: Sơ đồ Pipeline tổng thể hệ thống CLSG-IR — 4 Phase từ Input đến Verified 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4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4.  MODULE 1 &amp; 2: TRÍCH XUẤT &amp; LẬP KẾ HOẠCH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394960" cy="5212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5394960" cy="6400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5486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MODULE 1: Content Extractor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029200" cy="429768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pPr algn="l">
              <a:spcAft>
                <a:spcPts val="400"/>
              </a:spcAft>
              <a:defRPr sz="1500" b="1">
                <a:solidFill>
                  <a:srgbClr val="1E3A8A"/>
                </a:solidFill>
                <a:latin typeface="Segoe UI"/>
              </a:defRPr>
            </a:pPr>
            <a:r>
              <a:t>Nguyên lý: Zero-LLM, Zero-VLM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B5577"/>
                </a:solidFill>
                <a:latin typeface="Segoe UI"/>
              </a:defRPr>
            </a:pPr>
            <a:r>
              <a:t>(Thuần thuật toán, không dùng AI)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B2559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4B5577"/>
                </a:solidFill>
                <a:latin typeface="Segoe UI"/>
              </a:defRPr>
            </a:pPr>
            <a:r>
              <a:t>• PPTX: shapes, text_frame, tables, notes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B5577"/>
                </a:solidFill>
                <a:latin typeface="Segoe UI"/>
              </a:defRPr>
            </a:pPr>
            <a:r>
              <a:t>• PDF: text blocks, tọa độ (x,y,w,h)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B5577"/>
                </a:solidFill>
                <a:latin typeface="Segoe UI"/>
              </a:defRPr>
            </a:pPr>
            <a:r>
              <a:t>• DOCX: Heading 1–3, paragraphs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B5577"/>
                </a:solidFill>
                <a:latin typeface="Segoe UI"/>
              </a:defRPr>
            </a:pPr>
            <a:r>
              <a:t>• Metadata Cleaner: Regex quét template rác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B2559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059669"/>
                </a:solidFill>
                <a:latin typeface="Segoe UI"/>
              </a:defRPr>
            </a:pPr>
            <a:r>
              <a:t>⚡ Độ trễ: &lt; 100ms  |  💰 Chi phí: $0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B2559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1E3A8A"/>
                </a:solidFill>
                <a:latin typeface="Segoe UI"/>
              </a:defRPr>
            </a:pPr>
            <a:r>
              <a:t>OUTPUT: Canonical Document Tree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B5577"/>
                </a:solidFill>
                <a:latin typeface="Segoe UI"/>
              </a:defRPr>
            </a:pPr>
            <a:r>
              <a:t>  ├── sections[]: section_id, title, raw_text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B5577"/>
                </a:solidFill>
                <a:latin typeface="Segoe UI"/>
              </a:defRPr>
            </a:pPr>
            <a:r>
              <a:t>  ├── visual_elements[]: image, chart, diagram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B5577"/>
                </a:solidFill>
                <a:latin typeface="Segoe UI"/>
              </a:defRPr>
            </a:pPr>
            <a:r>
              <a:t>  └── table_elements[]: rows[][]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394960" cy="5212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5394960" cy="6400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029200" cy="5486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MODULE 2: Instructional Planner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5029200" cy="429768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pPr algn="l">
              <a:spcAft>
                <a:spcPts val="400"/>
              </a:spcAft>
              <a:defRPr sz="1500" b="1">
                <a:solidFill>
                  <a:srgbClr val="92400E"/>
                </a:solidFill>
                <a:latin typeface="Segoe UI"/>
              </a:defRPr>
            </a:pPr>
            <a:r>
              <a:t>Semantic Whole-Lesson Reasoning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B2559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1B2559"/>
                </a:solidFill>
                <a:latin typeface="Segoe UI"/>
              </a:defRPr>
            </a:pPr>
            <a:r>
              <a:t>3 cuộc gọi LLM có cấu trúc: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B5577"/>
                </a:solidFill>
                <a:latin typeface="Segoe UI"/>
              </a:defRPr>
            </a:pPr>
            <a:r>
              <a:t>  Call 1: Lesson Understanding (Big Picture)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B5577"/>
                </a:solidFill>
                <a:latin typeface="Segoe UI"/>
              </a:defRPr>
            </a:pPr>
            <a:r>
              <a:t>  Call 2: Content Prioritization (Core vs Noise)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B5577"/>
                </a:solidFill>
                <a:latin typeface="Segoe UI"/>
              </a:defRPr>
            </a:pPr>
            <a:r>
              <a:t>  Call 3: Teaching Arc Units (Bloom + Gagné)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B2559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1B2559"/>
                </a:solidFill>
                <a:latin typeface="Segoe UI"/>
              </a:defRPr>
            </a:pPr>
            <a:r>
              <a:t>Công thức ngân sách số từ:</a:t>
            </a:r>
          </a:p>
          <a:p>
            <a:pPr algn="ctr">
              <a:spcAft>
                <a:spcPts val="400"/>
              </a:spcAft>
              <a:defRPr sz="1500" b="1">
                <a:solidFill>
                  <a:srgbClr val="D97706"/>
                </a:solidFill>
                <a:latin typeface="Segoe UI"/>
              </a:defRPr>
            </a:pPr>
            <a:r>
              <a:t>W_target = Duration × (1 − α_pause) × WPM/60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B2559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1B2559"/>
                </a:solidFill>
                <a:latin typeface="Segoe UI"/>
              </a:defRPr>
            </a:pPr>
            <a:r>
              <a:t>Trọng số theo vai trò sư phạm: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B5577"/>
                </a:solidFill>
                <a:latin typeface="Segoe UI"/>
              </a:defRPr>
            </a:pPr>
            <a:r>
              <a:t>  • CORE_CONCEPT: ×1.2 – 1.4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B5577"/>
                </a:solidFill>
                <a:latin typeface="Segoe UI"/>
              </a:defRPr>
            </a:pPr>
            <a:r>
              <a:t>  • HOOK / EXAMPLE: ×1.0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4B5577"/>
                </a:solidFill>
                <a:latin typeface="Segoe UI"/>
              </a:defRPr>
            </a:pPr>
            <a:r>
              <a:t>  • SUMMARY: ×0.8 – 0.9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B2559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500" b="1">
                <a:solidFill>
                  <a:srgbClr val="92400E"/>
                </a:solidFill>
                <a:latin typeface="Segoe UI"/>
              </a:defRPr>
            </a:pPr>
            <a:r>
              <a:t>OUTPUT: Lesson Blueprint (JSON)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4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5.  MODULE 3: EXPRESSION GENERATOR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3611880" cy="4754880"/>
          </a:xfrm>
          <a:prstGeom prst="roundRect">
            <a:avLst/>
          </a:prstGeom>
          <a:solidFill>
            <a:srgbClr val="F0FDFA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611880" cy="822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33756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3A. Narration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333756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WHAT TO SAY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3337560" cy="365760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pPr algn="l">
              <a:spcAft>
                <a:spcPts val="400"/>
              </a:spcAft>
              <a:defRPr sz="1400" b="0">
                <a:solidFill>
                  <a:srgbClr val="4B5577"/>
                </a:solidFill>
                <a:latin typeface="Segoe UI"/>
              </a:defRPr>
            </a:pPr>
            <a:r>
              <a:t>• Lời giảng văn phong nói tự nhiên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B5577"/>
                </a:solidFill>
                <a:latin typeface="Segoe UI"/>
              </a:defRPr>
            </a:pPr>
            <a:r>
              <a:t>• Bảo tồn thuật ngữ tiếng Anh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B5577"/>
                </a:solidFill>
                <a:latin typeface="Segoe UI"/>
              </a:defRPr>
            </a:pPr>
            <a:r>
              <a:t>• Anti-Listicle (không liệt kê)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B5577"/>
                </a:solidFill>
                <a:latin typeface="Segoe UI"/>
              </a:defRPr>
            </a:pPr>
            <a:r>
              <a:t>• Ẩn dụ sư phạm &amp; liên kết suy luận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B5577"/>
                </a:solidFill>
                <a:latin typeface="Segoe UI"/>
              </a:defRPr>
            </a:pPr>
            <a:r>
              <a:t>• Bám sát W_target nghiêm ngặt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B5577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0D9488"/>
                </a:solidFill>
                <a:latin typeface="Segoe UI"/>
              </a:defRPr>
            </a:pPr>
            <a:r>
              <a:t>OUTPUT: Spoken Narration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34440"/>
            <a:ext cx="3611880" cy="4754880"/>
          </a:xfrm>
          <a:prstGeom prst="roundRect">
            <a:avLst/>
          </a:prstGeom>
          <a:solidFill>
            <a:srgbClr val="FFF1F2"/>
          </a:solidFill>
          <a:ln w="2540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34440"/>
            <a:ext cx="3611880" cy="822960"/>
          </a:xfrm>
          <a:prstGeom prst="rect">
            <a:avLst/>
          </a:prstGeom>
          <a:solidFill>
            <a:srgbClr val="BE1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280160"/>
            <a:ext cx="333756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3B. Prosody 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33756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HOW TO DELIVER (Pre-TTS)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94560"/>
            <a:ext cx="3337560" cy="365760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pPr algn="l">
              <a:spcAft>
                <a:spcPts val="400"/>
              </a:spcAft>
              <a:defRPr sz="1400" b="0">
                <a:solidFill>
                  <a:srgbClr val="4B5577"/>
                </a:solidFill>
                <a:latin typeface="Segoe UI"/>
              </a:defRPr>
            </a:pPr>
            <a:r>
              <a:t>• Micro-pause: 150–250ms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B5577"/>
                </a:solidFill>
                <a:latin typeface="Segoe UI"/>
              </a:defRPr>
            </a:pPr>
            <a:r>
              <a:t>• Emphasis-pause: 300–450ms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B5577"/>
                </a:solidFill>
                <a:latin typeface="Segoe UI"/>
              </a:defRPr>
            </a:pPr>
            <a:r>
              <a:t>• Concept Boundary: 500–700ms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B5577"/>
                </a:solidFill>
                <a:latin typeface="Segoe UI"/>
              </a:defRPr>
            </a:pPr>
            <a:r>
              <a:t>• Section Transition: 800–1200ms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B5577"/>
                </a:solidFill>
                <a:latin typeface="Segoe UI"/>
              </a:defRPr>
            </a:pPr>
            <a:r>
              <a:t>• Rate Modulation: slow/brisk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B5577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E11D48"/>
                </a:solidFill>
                <a:latin typeface="Segoe UI"/>
              </a:defRPr>
            </a:pPr>
            <a:r>
              <a:t>OUTPUT: Prosody Spec (W3C SSML)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34440"/>
            <a:ext cx="3611880" cy="47548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34440"/>
            <a:ext cx="3611880" cy="822960"/>
          </a:xfrm>
          <a:prstGeom prst="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280160"/>
            <a:ext cx="333756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3C. Visual Intent 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691640"/>
            <a:ext cx="333756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WHAT TO SHOW &amp; 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194560"/>
            <a:ext cx="3337560" cy="365760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pPr algn="l">
              <a:spcAft>
                <a:spcPts val="400"/>
              </a:spcAft>
              <a:defRPr sz="1400" b="0">
                <a:solidFill>
                  <a:srgbClr val="4B5577"/>
                </a:solidFill>
                <a:latin typeface="Segoe UI"/>
              </a:defRPr>
            </a:pPr>
            <a:r>
              <a:t>• 13 Canonical Visual Taxonomies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B5577"/>
                </a:solidFill>
                <a:latin typeface="Segoe UI"/>
              </a:defRPr>
            </a:pPr>
            <a:r>
              <a:t>• Visual Necessity Rule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B5577"/>
                </a:solidFill>
                <a:latin typeface="Segoe UI"/>
              </a:defRPr>
            </a:pPr>
            <a:r>
              <a:t>• trigger_timestamp_sec đồng bộ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B5577"/>
                </a:solidFill>
                <a:latin typeface="Segoe UI"/>
              </a:defRPr>
            </a:pPr>
            <a:r>
              <a:t>• visual_purpose + learning_support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4B5577"/>
                </a:solidFill>
                <a:latin typeface="Segoe UI"/>
              </a:defRPr>
            </a:pPr>
            <a:r>
              <a:t>• importance_level: high/med/low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4B5577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400" b="1">
                <a:solidFill>
                  <a:srgbClr val="4F46E5"/>
                </a:solidFill>
                <a:latin typeface="Segoe UI"/>
              </a:defRPr>
            </a:pPr>
            <a:r>
              <a:t>OUTPUT: Visual Intent Metadata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6035040"/>
            <a:ext cx="11292840" cy="45720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053328"/>
            <a:ext cx="10881360" cy="4114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ctr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SHARED INSTRUCTIONAL CONTEXT BUS  —  Lesson Blueprint + Learning Goals + Rolling Memory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4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6.  MODULE 4: QUALITY &amp; VISUAL GUARD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109960" cy="10972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BE1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" cy="502920"/>
          </a:xfrm>
          <a:prstGeom prst="rect">
            <a:avLst/>
          </a:prstGeom>
          <a:solidFill>
            <a:srgbClr val="BE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99032"/>
            <a:ext cx="50292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4572000" cy="36576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800" b="1">
                <a:solidFill>
                  <a:srgbClr val="BE1E2D"/>
                </a:solidFill>
                <a:latin typeface="Segoe UI"/>
              </a:defRPr>
            </a:pPr>
            <a:r>
              <a:t>DAR-P Pacing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73352"/>
            <a:ext cx="10058400" cy="59436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300" b="0">
                <a:solidFill>
                  <a:srgbClr val="4B5577"/>
                </a:solidFill>
                <a:latin typeface="Segoe UI"/>
              </a:defRPr>
            </a:pPr>
            <a:r>
              <a:t>T_estimated = Σ(W_k / WPM_k) + Σ(Duration_ms / 1000)</a:t>
            </a:r>
            <a:br/>
            <a:r>
              <a:t>Đảm bảo |T_actual − T_target| / T_target ≤ 15%. Auto-Repair nếu lệch 5–25%.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11109960" cy="10972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606040"/>
            <a:ext cx="502920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33472"/>
            <a:ext cx="50292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42032"/>
            <a:ext cx="4572000" cy="36576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800" b="1">
                <a:solidFill>
                  <a:srgbClr val="4F46E5"/>
                </a:solidFill>
                <a:latin typeface="Segoe UI"/>
              </a:defRPr>
            </a:pPr>
            <a:r>
              <a:t>Visual Taxonomy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07792"/>
            <a:ext cx="10058400" cy="59436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300" b="0">
                <a:solidFill>
                  <a:srgbClr val="4B5577"/>
                </a:solidFill>
                <a:latin typeface="Segoe UI"/>
              </a:defRPr>
            </a:pPr>
            <a:r>
              <a:t>100% visual cues phải thuộc 13 taxonomy chuẩn: diagram, flowchart, comparison,</a:t>
            </a:r>
            <a:br/>
            <a:r>
              <a:t>infographic, chart, table, screenshot, illustration, timeline, equation,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11109960" cy="10972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502920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67912"/>
            <a:ext cx="50292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776472"/>
            <a:ext cx="4572000" cy="36576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Visual Necessity Guard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142232"/>
            <a:ext cx="10058400" cy="59436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300" b="0">
                <a:solidFill>
                  <a:srgbClr val="4B5577"/>
                </a:solidFill>
                <a:latin typeface="Segoe UI"/>
              </a:defRPr>
            </a:pPr>
            <a:r>
              <a:t>Loại bỏ mọi visual mang tính trang trí. Đảm bảo mọi visual cue đều có lý do</a:t>
            </a:r>
            <a:br/>
            <a:r>
              <a:t>giáo dục rõ ràng và bổ trợ trực tiếp cho learning_goal.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11109960" cy="10972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074920"/>
            <a:ext cx="50292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02352"/>
            <a:ext cx="50292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010912"/>
            <a:ext cx="4572000" cy="36576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800" b="1">
                <a:solidFill>
                  <a:srgbClr val="D97706"/>
                </a:solidFill>
                <a:latin typeface="Segoe UI"/>
              </a:defRPr>
            </a:pPr>
            <a:r>
              <a:t>Metadata Leakage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76672"/>
            <a:ext cx="10058400" cy="59436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300" b="0">
                <a:solidFill>
                  <a:srgbClr val="4B5577"/>
                </a:solidFill>
                <a:latin typeface="Segoe UI"/>
              </a:defRPr>
            </a:pPr>
            <a:r>
              <a:t>Quét Regex khử sạch chuỗi rác aicb-*, placeholder, template sinh tự động</a:t>
            </a:r>
            <a:br/>
            <a:r>
              <a:t>còn sót trong narration. Bảo vệ chất lượng đầu ra cuối cùng.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217920"/>
            <a:ext cx="5394960" cy="4114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236208"/>
            <a:ext cx="5029200" cy="36576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✓  PASS → Verified CLSG-IR (JSON)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6217920"/>
            <a:ext cx="5394960" cy="411480"/>
          </a:xfrm>
          <a:prstGeom prst="rect">
            <a:avLst/>
          </a:prstGeom>
          <a:solidFill>
            <a:srgbClr val="BE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6236208"/>
            <a:ext cx="5029200" cy="36576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✗  FAIL → Revision Loop ← Module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4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7.  BỘ TỨ SƯ PHẠM — 4-PILLAR IR</a:t>
            </a:r>
          </a:p>
        </p:txBody>
      </p:sp>
      <p:pic>
        <p:nvPicPr>
          <p:cNvPr id="4" name="Picture 3" descr="clsg_ir_four_pill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62774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51560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ctr">
              <a:defRPr sz="1300" b="1">
                <a:solidFill>
                  <a:srgbClr val="4B5577"/>
                </a:solidFill>
                <a:latin typeface="Segoe UI"/>
              </a:defRPr>
            </a:pPr>
            <a:r>
              <a:t>Hình 2: CLSG-IR = ⟨ WHY (Learning Intent), WHAT (Narration), HOW (Prosody/SSML), SHOW (Visual Intent) 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4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8.  13 PHÂN LOẠI TRỰC QUAN SƯ PHẠM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3611880" cy="9144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1148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400" b="1">
                <a:solidFill>
                  <a:srgbClr val="2563EB"/>
                </a:solidFill>
                <a:latin typeface="Segoe UI"/>
              </a:defRPr>
            </a:pPr>
            <a:r>
              <a:t>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306324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1">
                <a:solidFill>
                  <a:srgbClr val="2563EB"/>
                </a:solidFill>
                <a:latin typeface="Segoe UI"/>
              </a:defRPr>
            </a:pPr>
            <a:r>
              <a:t>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18488"/>
            <a:ext cx="306324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200" b="0">
                <a:solidFill>
                  <a:srgbClr val="4B5577"/>
                </a:solidFill>
                <a:latin typeface="Segoe UI"/>
              </a:defRPr>
            </a:pPr>
            <a:r>
              <a:t>Cấu trúc, thành phần, mô hình tĩnh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34440"/>
            <a:ext cx="3611880" cy="9144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280160"/>
            <a:ext cx="41148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400" b="1">
                <a:solidFill>
                  <a:srgbClr val="0D9488"/>
                </a:solidFill>
                <a:latin typeface="Segoe UI"/>
              </a:defRPr>
            </a:pPr>
            <a:r>
              <a:t> 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280160"/>
            <a:ext cx="306324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1">
                <a:solidFill>
                  <a:srgbClr val="0D9488"/>
                </a:solidFill>
                <a:latin typeface="Segoe UI"/>
              </a:defRPr>
            </a:pPr>
            <a:r>
              <a:t>flowchart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618488"/>
            <a:ext cx="306324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200" b="0">
                <a:solidFill>
                  <a:srgbClr val="4B5577"/>
                </a:solidFill>
                <a:latin typeface="Segoe UI"/>
              </a:defRPr>
            </a:pPr>
            <a:r>
              <a:t>Chuỗi bước tuần tự, luồng logic rẽ nhánh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611880" cy="9144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280160"/>
            <a:ext cx="41148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 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280160"/>
            <a:ext cx="306324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1">
                <a:solidFill>
                  <a:srgbClr val="D97706"/>
                </a:solidFill>
                <a:latin typeface="Segoe UI"/>
              </a:defRPr>
            </a:pPr>
            <a:r>
              <a:t>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618488"/>
            <a:ext cx="306324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200" b="0">
                <a:solidFill>
                  <a:srgbClr val="4B5577"/>
                </a:solidFill>
                <a:latin typeface="Segoe UI"/>
              </a:defRPr>
            </a:pPr>
            <a:r>
              <a:t>Đối chiếu song song ưu/nhược điểm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86000"/>
            <a:ext cx="3611880" cy="91440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31720"/>
            <a:ext cx="41148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 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331720"/>
            <a:ext cx="306324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1">
                <a:solidFill>
                  <a:srgbClr val="7C3AED"/>
                </a:solidFill>
                <a:latin typeface="Segoe UI"/>
              </a:defRPr>
            </a:pPr>
            <a:r>
              <a:t>infographic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670048"/>
            <a:ext cx="306324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200" b="0">
                <a:solidFill>
                  <a:srgbClr val="4B5577"/>
                </a:solidFill>
                <a:latin typeface="Segoe UI"/>
              </a:defRPr>
            </a:pPr>
            <a:r>
              <a:t>Tổng hợp tri thức đa chiều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286000"/>
            <a:ext cx="3611880" cy="9144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331720"/>
            <a:ext cx="41148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400" b="1">
                <a:solidFill>
                  <a:srgbClr val="4F46E5"/>
                </a:solidFill>
                <a:latin typeface="Segoe UI"/>
              </a:defRPr>
            </a:pPr>
            <a:r>
              <a:t> 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331720"/>
            <a:ext cx="306324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1">
                <a:solidFill>
                  <a:srgbClr val="4F46E5"/>
                </a:solidFill>
                <a:latin typeface="Segoe UI"/>
              </a:defRPr>
            </a:pPr>
            <a:r>
              <a:t>chart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670048"/>
            <a:ext cx="306324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200" b="0">
                <a:solidFill>
                  <a:srgbClr val="4B5577"/>
                </a:solidFill>
                <a:latin typeface="Segoe UI"/>
              </a:defRPr>
            </a:pPr>
            <a:r>
              <a:t>Dữ liệu định lượng, xu hướng biến thiên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286000"/>
            <a:ext cx="3611880" cy="914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331720"/>
            <a:ext cx="41148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400" b="1">
                <a:solidFill>
                  <a:srgbClr val="059669"/>
                </a:solidFill>
                <a:latin typeface="Segoe UI"/>
              </a:defRPr>
            </a:pPr>
            <a:r>
              <a:t> 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331720"/>
            <a:ext cx="306324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1">
                <a:solidFill>
                  <a:srgbClr val="059669"/>
                </a:solidFill>
                <a:latin typeface="Segoe UI"/>
              </a:defRPr>
            </a:pPr>
            <a:r>
              <a:t>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670048"/>
            <a:ext cx="306324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200" b="0">
                <a:solidFill>
                  <a:srgbClr val="4B5577"/>
                </a:solidFill>
                <a:latin typeface="Segoe UI"/>
              </a:defRPr>
            </a:pPr>
            <a:r>
              <a:t>Thông tin đa thuộc tính dạng ma trận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37560"/>
            <a:ext cx="3611880" cy="9144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BE1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383280"/>
            <a:ext cx="41148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400" b="1">
                <a:solidFill>
                  <a:srgbClr val="BE1E2D"/>
                </a:solidFill>
                <a:latin typeface="Segoe UI"/>
              </a:defRPr>
            </a:pPr>
            <a:r>
              <a:t> 7.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83280"/>
            <a:ext cx="306324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1">
                <a:solidFill>
                  <a:srgbClr val="BE1E2D"/>
                </a:solidFill>
                <a:latin typeface="Segoe UI"/>
              </a:defRPr>
            </a:pPr>
            <a:r>
              <a:t>screenshot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721608"/>
            <a:ext cx="306324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200" b="0">
                <a:solidFill>
                  <a:srgbClr val="4B5577"/>
                </a:solidFill>
                <a:latin typeface="Segoe UI"/>
              </a:defRPr>
            </a:pPr>
            <a:r>
              <a:t>Giao diện thực tế phần mềm / hệ thống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337560"/>
            <a:ext cx="3611880" cy="91440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3383280"/>
            <a:ext cx="41148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400" b="1">
                <a:solidFill>
                  <a:srgbClr val="0D9488"/>
                </a:solidFill>
                <a:latin typeface="Segoe UI"/>
              </a:defRPr>
            </a:pPr>
            <a:r>
              <a:t> 8.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383280"/>
            <a:ext cx="306324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1">
                <a:solidFill>
                  <a:srgbClr val="0D9488"/>
                </a:solidFill>
                <a:latin typeface="Segoe UI"/>
              </a:defRPr>
            </a:pPr>
            <a:r>
              <a:t>illustration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721608"/>
            <a:ext cx="306324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200" b="0">
                <a:solidFill>
                  <a:srgbClr val="4B5577"/>
                </a:solidFill>
                <a:latin typeface="Segoe UI"/>
              </a:defRPr>
            </a:pPr>
            <a:r>
              <a:t>Ẩn dụ trực quan hóa ý niệm trừu tượng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3337560"/>
            <a:ext cx="3611880" cy="9144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3383280"/>
            <a:ext cx="41148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 9.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3383280"/>
            <a:ext cx="306324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1">
                <a:solidFill>
                  <a:srgbClr val="D97706"/>
                </a:solidFill>
                <a:latin typeface="Segoe UI"/>
              </a:defRPr>
            </a:pPr>
            <a:r>
              <a:t>real_world_example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3721608"/>
            <a:ext cx="306324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200" b="0">
                <a:solidFill>
                  <a:srgbClr val="4B5577"/>
                </a:solidFill>
                <a:latin typeface="Segoe UI"/>
              </a:defRPr>
            </a:pPr>
            <a:r>
              <a:t>Tình huống thực tế, vật thể đời thực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389119"/>
            <a:ext cx="3611880" cy="91440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434839"/>
            <a:ext cx="41148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400" b="1">
                <a:solidFill>
                  <a:srgbClr val="7C3AED"/>
                </a:solidFill>
                <a:latin typeface="Segoe UI"/>
              </a:defRPr>
            </a:pPr>
            <a:r>
              <a:t>10.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434839"/>
            <a:ext cx="306324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1">
                <a:solidFill>
                  <a:srgbClr val="7C3AED"/>
                </a:solidFill>
                <a:latin typeface="Segoe UI"/>
              </a:defRPr>
            </a:pPr>
            <a:r>
              <a:t>timeline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773167"/>
            <a:ext cx="306324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200" b="0">
                <a:solidFill>
                  <a:srgbClr val="4B5577"/>
                </a:solidFill>
                <a:latin typeface="Segoe UI"/>
              </a:defRPr>
            </a:pPr>
            <a:r>
              <a:t>Diễn biến theo trục thời gian tuyến tính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0" y="4389119"/>
            <a:ext cx="3611880" cy="9144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0" y="4434839"/>
            <a:ext cx="41148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400" b="1">
                <a:solidFill>
                  <a:srgbClr val="4F46E5"/>
                </a:solidFill>
                <a:latin typeface="Segoe UI"/>
              </a:defRPr>
            </a:pPr>
            <a:r>
              <a:t>11.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4434839"/>
            <a:ext cx="306324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1">
                <a:solidFill>
                  <a:srgbClr val="4F46E5"/>
                </a:solidFill>
                <a:latin typeface="Segoe UI"/>
              </a:defRPr>
            </a:pPr>
            <a:r>
              <a:t>equation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4773167"/>
            <a:ext cx="306324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200" b="0">
                <a:solidFill>
                  <a:srgbClr val="4B5577"/>
                </a:solidFill>
                <a:latin typeface="Segoe UI"/>
              </a:defRPr>
            </a:pPr>
            <a:r>
              <a:t>Công thức toán học, ký hiệu logic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38160" y="4389119"/>
            <a:ext cx="3611880" cy="914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0" y="4434839"/>
            <a:ext cx="41148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400" b="1">
                <a:solidFill>
                  <a:srgbClr val="059669"/>
                </a:solidFill>
                <a:latin typeface="Segoe UI"/>
              </a:defRPr>
            </a:pPr>
            <a:r>
              <a:t>12.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4434839"/>
            <a:ext cx="306324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1">
                <a:solidFill>
                  <a:srgbClr val="059669"/>
                </a:solidFill>
                <a:latin typeface="Segoe UI"/>
              </a:defRPr>
            </a:pPr>
            <a:r>
              <a:t>process_vis.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4773167"/>
            <a:ext cx="306324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200" b="0">
                <a:solidFill>
                  <a:srgbClr val="4B5577"/>
                </a:solidFill>
                <a:latin typeface="Segoe UI"/>
              </a:defRPr>
            </a:pPr>
            <a:r>
              <a:t>Dòng chảy hoạt động hệ thống kỹ thuật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440680"/>
            <a:ext cx="3611880" cy="9144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34B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486400"/>
            <a:ext cx="41148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400" b="1">
                <a:solidFill>
                  <a:srgbClr val="134B88"/>
                </a:solidFill>
                <a:latin typeface="Segoe UI"/>
              </a:defRPr>
            </a:pPr>
            <a:r>
              <a:t>13.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5486400"/>
            <a:ext cx="3063240" cy="32004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500" b="1">
                <a:solidFill>
                  <a:srgbClr val="134B88"/>
                </a:solidFill>
                <a:latin typeface="Segoe UI"/>
              </a:defRPr>
            </a:pPr>
            <a:r>
              <a:t>concept_map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5824728"/>
            <a:ext cx="306324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200" b="0">
                <a:solidFill>
                  <a:srgbClr val="4B5577"/>
                </a:solidFill>
                <a:latin typeface="Segoe UI"/>
              </a:defRPr>
            </a:pPr>
            <a:r>
              <a:t>Mạng lưới khái niệm &amp; quan hệ ngữ nghĩa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4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9.  CLSG-IR vs EduCraft (CIKM 2025)</a:t>
            </a:r>
          </a:p>
        </p:txBody>
      </p:sp>
      <p:pic>
        <p:nvPicPr>
          <p:cNvPr id="4" name="Picture 3" descr="clsg_vs_educra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62774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51560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ctr">
              <a:defRPr sz="1300" b="1">
                <a:solidFill>
                  <a:srgbClr val="4B5577"/>
                </a:solidFill>
                <a:latin typeface="Segoe UI"/>
              </a:defRPr>
            </a:pPr>
            <a:r>
              <a:t>Hình 3: Bảng đối sánh 6 tiêu chí — CLSG-IR giải quyết triệt để các hạn chế của EduCraft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4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10.  HỆ THỐNG ĐÁNH GIÁ THỰC NGHIỆM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109960" cy="11887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05840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35608"/>
            <a:ext cx="1005840" cy="4114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VNS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325880"/>
            <a:ext cx="9509760" cy="36576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Visual Necessity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691640"/>
            <a:ext cx="9509760" cy="6858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400" b="0">
                <a:solidFill>
                  <a:srgbClr val="4B5577"/>
                </a:solidFill>
                <a:latin typeface="Segoe UI"/>
              </a:defRPr>
            </a:pPr>
            <a:r>
              <a:t>Chuyên gia giáo dục hoặc Critic LLM đánh giá tỷ lệ visual cues thực sự giải tỏa điểm nghẽn nhận thức, không trang trí vô bổ.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11109960" cy="11887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1005840" cy="4572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61488"/>
            <a:ext cx="1005840" cy="4114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651760"/>
            <a:ext cx="9509760" cy="36576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800" b="1">
                <a:solidFill>
                  <a:srgbClr val="4F46E5"/>
                </a:solidFill>
                <a:latin typeface="Segoe UI"/>
              </a:defRPr>
            </a:pPr>
            <a:r>
              <a:t>Taxonomy Compliance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017520"/>
            <a:ext cx="9509760" cy="6858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400" b="0">
                <a:solidFill>
                  <a:srgbClr val="4B5577"/>
                </a:solidFill>
                <a:latin typeface="Segoe UI"/>
              </a:defRPr>
            </a:pPr>
            <a:r>
              <a:t>Tỷ lệ 100% các visual_type được gán đúng theo 13 loại trong Taxonomy quy định. Mọi visual cue thuộc đúng phân loại chuẩn.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86200"/>
            <a:ext cx="11109960" cy="118872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100584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87368"/>
            <a:ext cx="1005840" cy="4114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Rₐₗₗₙ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977640"/>
            <a:ext cx="9509760" cy="36576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800" b="1">
                <a:solidFill>
                  <a:srgbClr val="7C3AED"/>
                </a:solidFill>
                <a:latin typeface="Segoe UI"/>
              </a:defRPr>
            </a:pPr>
            <a:r>
              <a:t>Narration–Visual Alignment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343400"/>
            <a:ext cx="9509760" cy="6858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400" b="0">
                <a:solidFill>
                  <a:srgbClr val="4B5577"/>
                </a:solidFill>
                <a:latin typeface="Segoe UI"/>
              </a:defRPr>
            </a:pPr>
            <a:r>
              <a:t>Độ khớp ngữ nghĩa giữa content_focus trong visual cue với đoạn narration đang phát biểu. Visual đúng thời điểm, đúng nội dung.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12079"/>
            <a:ext cx="11109960" cy="11887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BE1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394959"/>
            <a:ext cx="1005840" cy="457200"/>
          </a:xfrm>
          <a:prstGeom prst="rect">
            <a:avLst/>
          </a:prstGeom>
          <a:solidFill>
            <a:srgbClr val="BE1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13247"/>
            <a:ext cx="1005840" cy="4114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303519"/>
            <a:ext cx="9509760" cy="36576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800" b="1">
                <a:solidFill>
                  <a:srgbClr val="BE1E2D"/>
                </a:solidFill>
                <a:latin typeface="Segoe UI"/>
              </a:defRPr>
            </a:pPr>
            <a:r>
              <a:t>Duration Adherence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669279"/>
            <a:ext cx="9509760" cy="6858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400" b="0">
                <a:solidFill>
                  <a:srgbClr val="4B5577"/>
                </a:solidFill>
                <a:latin typeface="Segoe UI"/>
              </a:defRPr>
            </a:pPr>
            <a:r>
              <a:t>DAR = 1 − |W_actual − W_target| / W_target. Thời lượng lời giảng tuân thủ ≤ 15% sai lệch, bao gồm cả thời gian khoảng dừng SSML.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4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11.  SƠ ĐỒ KỸ THUẬT CHI TIẾT</a:t>
            </a:r>
          </a:p>
        </p:txBody>
      </p:sp>
      <p:pic>
        <p:nvPicPr>
          <p:cNvPr id="4" name="Picture 3" descr="clsg_pipelin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6531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515600" cy="45720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ctr">
              <a:defRPr sz="1300" b="1">
                <a:solidFill>
                  <a:srgbClr val="4B5577"/>
                </a:solidFill>
                <a:latin typeface="Segoe UI"/>
              </a:defRPr>
            </a:pPr>
            <a:r>
              <a:t>Hình 4: Sơ đồ kỹ thuật chi tiết 32×18 inch @ 300 DPI (scripts/draw_pipeline.py)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D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5486400"/>
          </a:xfrm>
          <a:prstGeom prst="rect">
            <a:avLst/>
          </a:prstGeom>
          <a:noFill/>
        </p:spPr>
        <p:txBody>
          <a:bodyPr wrap="square" lIns="101600" rIns="101600" tIns="50800" bIns="50800"/>
          <a:lstStyle/>
          <a:p>
            <a:pPr algn="l">
              <a:spcAft>
                <a:spcPts val="400"/>
              </a:spcAft>
              <a:defRPr sz="4200" b="1">
                <a:solidFill>
                  <a:srgbClr val="E6D9A8"/>
                </a:solidFill>
                <a:latin typeface="Segoe UI"/>
              </a:defRPr>
            </a:pPr>
            <a:r>
              <a:t>KẾT LUẬN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CLSG-IR tái định hình bài toán Lecture Script Generation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thành bài toán thiết kế Intermediate Representation cho Video AI.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2000" b="0">
                <a:solidFill>
                  <a:srgbClr val="E3EBF5"/>
                </a:solidFill>
                <a:latin typeface="Segoe UI"/>
              </a:defRPr>
            </a:pPr>
            <a:r>
              <a:t>✓  Zero-VLM Content Extraction — Chi phí $0, độ trễ &lt; 100ms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E3EBF5"/>
                </a:solidFill>
                <a:latin typeface="Segoe UI"/>
              </a:defRPr>
            </a:pPr>
            <a:r>
              <a:t>✓  4-Pillar IR: WHY + WHAT + HOW + WHAT TO SHOW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E3EBF5"/>
                </a:solidFill>
                <a:latin typeface="Segoe UI"/>
              </a:defRPr>
            </a:pPr>
            <a:r>
              <a:t>✓  Pre-TTS Prosody Planning với 4 loại khoảng dừng nhận thức (W3C SSML)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E3EBF5"/>
                </a:solidFill>
                <a:latin typeface="Segoe UI"/>
              </a:defRPr>
            </a:pPr>
            <a:r>
              <a:t>✓  13 Visual Taxonomies — Triệt tiêu hoàn toàn visual trang trí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E3EBF5"/>
                </a:solidFill>
                <a:latin typeface="Segoe UI"/>
              </a:defRPr>
            </a:pPr>
            <a:r>
              <a:t>✓  Quality Guard: DAR-P ≤ 15% — Vòng lặp sửa lỗi tự động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E3EBF5"/>
                </a:solidFill>
                <a:latin typeface="Segoe UI"/>
              </a:defRPr>
            </a:pPr>
            <a:r>
              <a:t>✓  Cầu nối trực tiếp tới Sora, Runway, Midjourney, ElevenLabs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FFFFFF"/>
                </a:solidFill>
                <a:latin typeface="Segoe UI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E6D9A8"/>
                </a:solidFill>
                <a:latin typeface="Segoe UI"/>
              </a:defRPr>
            </a:pPr>
            <a:r>
              <a:t>Sẵn sàng công bố: AIED, EDM, CIKM, EMNLP, ACM Multimedia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3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6446520"/>
            <a:ext cx="10058400" cy="365760"/>
          </a:xfrm>
          <a:prstGeom prst="rect">
            <a:avLst/>
          </a:prstGeom>
          <a:noFill/>
        </p:spPr>
        <p:txBody>
          <a:bodyPr wrap="square" lIns="50800" rIns="50800" tIns="25400" bIns="25400"/>
          <a:lstStyle/>
          <a:p>
            <a:pPr algn="l">
              <a:defRPr sz="1300" b="1">
                <a:solidFill>
                  <a:srgbClr val="E6D9A8"/>
                </a:solidFill>
                <a:latin typeface="Segoe UI"/>
              </a:defRPr>
            </a:pPr>
            <a:r>
              <a:t>CLSG-IR  •  Configurable Lecture Script &amp; Visual Intent Generation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